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3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Fleet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2018-19</c:v>
                </c:pt>
                <c:pt idx="1">
                  <c:v>2019-20</c:v>
                </c:pt>
                <c:pt idx="2">
                  <c:v>2020-21</c:v>
                </c:pt>
                <c:pt idx="3">
                  <c:v>2021-22</c:v>
                </c:pt>
                <c:pt idx="4">
                  <c:v>2022-23</c:v>
                </c:pt>
                <c:pt idx="5">
                  <c:v>2023-24</c:v>
                </c:pt>
                <c:pt idx="6">
                  <c:v>2024-25</c:v>
                </c:pt>
                <c:pt idx="7">
                  <c:v>2025-26*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6562</c:v>
                </c:pt>
                <c:pt idx="1">
                  <c:v>6690</c:v>
                </c:pt>
                <c:pt idx="2">
                  <c:v>6521</c:v>
                </c:pt>
                <c:pt idx="3">
                  <c:v>6799</c:v>
                </c:pt>
                <c:pt idx="4">
                  <c:v>6688</c:v>
                </c:pt>
                <c:pt idx="5">
                  <c:v>6102</c:v>
                </c:pt>
                <c:pt idx="6">
                  <c:v>6872</c:v>
                </c:pt>
                <c:pt idx="7">
                  <c:v>7007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42-4667-B507-3548562659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Schedules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2018-19</c:v>
                </c:pt>
                <c:pt idx="1">
                  <c:v>2019-20</c:v>
                </c:pt>
                <c:pt idx="2">
                  <c:v>2020-21</c:v>
                </c:pt>
                <c:pt idx="3">
                  <c:v>2021-22</c:v>
                </c:pt>
                <c:pt idx="4">
                  <c:v>2022-23</c:v>
                </c:pt>
                <c:pt idx="5">
                  <c:v>2023-24</c:v>
                </c:pt>
                <c:pt idx="6">
                  <c:v>2024-25</c:v>
                </c:pt>
                <c:pt idx="7">
                  <c:v>2025-26*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6190</c:v>
                </c:pt>
                <c:pt idx="1">
                  <c:v>6159</c:v>
                </c:pt>
                <c:pt idx="2">
                  <c:v>5313</c:v>
                </c:pt>
                <c:pt idx="3">
                  <c:v>5547</c:v>
                </c:pt>
                <c:pt idx="4">
                  <c:v>5557</c:v>
                </c:pt>
                <c:pt idx="5">
                  <c:v>5605</c:v>
                </c:pt>
                <c:pt idx="6">
                  <c:v>5871</c:v>
                </c:pt>
                <c:pt idx="7">
                  <c:v>6229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42-4667-B507-3548562659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806440"/>
          </a:xfrm>
          <a:prstGeom prst="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475488"/>
            <a:ext cx="201168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000" b="1" i="0">
                <a:solidFill>
                  <a:srgbClr val="26BEAD"/>
                </a:solidFill>
                <a:latin typeface="Aptos"/>
              </a:rPr>
              <a:t>BMTC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24128"/>
            <a:ext cx="5486400" cy="12344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Aptos"/>
              </a:rPr>
              <a:t>PERFORMANCE
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5715000" cy="868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900" b="0" i="0">
                <a:solidFill>
                  <a:srgbClr val="D0DAE4"/>
                </a:solidFill>
                <a:latin typeface="Aptos"/>
              </a:rPr>
              <a:t>How can Bengaluru’s bus system become more productive and financially sustainable?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493008"/>
            <a:ext cx="2331720" cy="292608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3534156"/>
            <a:ext cx="225856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PGDM-LEVEL CONSULTING MINI-CASE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041648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 i="0">
                <a:solidFill>
                  <a:srgbClr val="A6B4C4"/>
                </a:solidFill>
                <a:latin typeface="Aptos"/>
              </a:rPr>
              <a:t>EXECUTIVE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343400"/>
            <a:ext cx="534924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Aptos"/>
              </a:rPr>
              <a:t>The strategic issue is not only fleet size. It is the productivity of each bus-hour, route-hour and depot-hour deployed.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457200"/>
            <a:ext cx="5074920" cy="580644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60" y="822960"/>
            <a:ext cx="43891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THE CASE IN 3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353312"/>
            <a:ext cx="4343400" cy="123444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95160" y="1353312"/>
            <a:ext cx="50292" cy="1234440"/>
          </a:xfrm>
          <a:prstGeom prst="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490472"/>
            <a:ext cx="4023360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30" b="1" i="0">
                <a:solidFill>
                  <a:srgbClr val="A6B4C4"/>
                </a:solidFill>
                <a:latin typeface="Aptos"/>
              </a:rPr>
              <a:t>CURRENT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83080"/>
            <a:ext cx="40233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>
                <a:solidFill>
                  <a:srgbClr val="F8FAFC"/>
                </a:solidFill>
                <a:latin typeface="Aptos"/>
              </a:rPr>
              <a:t>7,000+ buses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95144"/>
            <a:ext cx="4023360" cy="21031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0" b="0" i="0">
                <a:solidFill>
                  <a:srgbClr val="D0DAE4"/>
                </a:solidFill>
                <a:latin typeface="Aptos"/>
              </a:rPr>
              <a:t>Reported BMTC scale in 2025; &gt;11.9L km/day.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2770632"/>
            <a:ext cx="4343400" cy="123444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95160" y="2770632"/>
            <a:ext cx="50292" cy="1234440"/>
          </a:xfrm>
          <a:prstGeom prst="rect">
            <a:avLst/>
          </a:prstGeom>
          <a:solidFill>
            <a:srgbClr val="57B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8040" y="2907791"/>
            <a:ext cx="4023360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30" b="1" i="0">
                <a:solidFill>
                  <a:srgbClr val="A6B4C4"/>
                </a:solidFill>
                <a:latin typeface="Aptos"/>
              </a:rPr>
              <a:t>RIDERSHIP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200400"/>
            <a:ext cx="40233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>
                <a:solidFill>
                  <a:srgbClr val="F8FAFC"/>
                </a:solidFill>
                <a:latin typeface="Aptos"/>
              </a:rPr>
              <a:t>~44L /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712463"/>
            <a:ext cx="4023360" cy="21031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0" b="0" i="0">
                <a:solidFill>
                  <a:srgbClr val="D0DAE4"/>
                </a:solidFill>
                <a:latin typeface="Aptos"/>
              </a:rPr>
              <a:t>Back near pre-COVID levels; economics still need attention.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4187952"/>
            <a:ext cx="4343400" cy="150876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95160" y="4187952"/>
            <a:ext cx="50292" cy="1508760"/>
          </a:xfrm>
          <a:prstGeom prst="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78040" y="4325112"/>
            <a:ext cx="4023360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30" b="1" i="0">
                <a:solidFill>
                  <a:srgbClr val="A6B4C4"/>
                </a:solidFill>
                <a:latin typeface="Aptos"/>
              </a:rPr>
              <a:t>FINANCIAL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617720"/>
            <a:ext cx="40233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>
                <a:solidFill>
                  <a:srgbClr val="F8FAFC"/>
                </a:solidFill>
                <a:latin typeface="Aptos"/>
              </a:rPr>
              <a:t>222.6%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5129784"/>
            <a:ext cx="4023360" cy="4846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0" b="0" i="0">
                <a:solidFill>
                  <a:srgbClr val="D0DAE4"/>
                </a:solidFill>
                <a:latin typeface="Aptos"/>
              </a:rPr>
              <a:t>CAG operating cost ratio in FY2021-22.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Sources: CAG Performance Audit; BMTC / Karnataka public data; 2025 reported BMTC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"/>
              </a:rPr>
              <a:t>Executive diagnosis: a productivity problem sits underneath the 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0440" y="868680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 i="0" dirty="0">
                <a:solidFill>
                  <a:srgbClr val="A6B4C4"/>
                </a:solidFill>
                <a:latin typeface="Aptos"/>
              </a:rPr>
              <a:t>Consulting lens: separate demand recovery, capacity deployment and cost economics.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3716"/>
          </a:xfrm>
          <a:prstGeom prst="rect">
            <a:avLst/>
          </a:prstGeom>
          <a:solidFill>
            <a:srgbClr val="40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920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 i="0">
                <a:solidFill>
                  <a:srgbClr val="26BEAD"/>
                </a:solidFill>
                <a:latin typeface="Aptos"/>
              </a:rPr>
              <a:t>CORE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2743200" cy="96012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9997" y="1755648"/>
            <a:ext cx="23317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00" b="1" i="0" dirty="0">
                <a:solidFill>
                  <a:srgbClr val="F8FAFC"/>
                </a:solidFill>
                <a:latin typeface="Aptos"/>
              </a:rPr>
              <a:t>Where should BMTC deploy its
next bus-hour and next rupee?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71800"/>
            <a:ext cx="2743200" cy="731520"/>
          </a:xfrm>
          <a:prstGeom prst="roundRect">
            <a:avLst/>
          </a:prstGeom>
          <a:solidFill>
            <a:srgbClr val="19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971800"/>
            <a:ext cx="50292" cy="731520"/>
          </a:xfrm>
          <a:prstGeom prst="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3090672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 i="0">
                <a:solidFill>
                  <a:srgbClr val="4AADDB"/>
                </a:solidFill>
                <a:latin typeface="Aptos"/>
              </a:rPr>
              <a:t>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63240"/>
            <a:ext cx="1719072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Are buses aligned to when / where passengers travel?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04487"/>
            <a:ext cx="2743200" cy="731520"/>
          </a:xfrm>
          <a:prstGeom prst="roundRect">
            <a:avLst/>
          </a:prstGeom>
          <a:solidFill>
            <a:srgbClr val="19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904487"/>
            <a:ext cx="50292" cy="731520"/>
          </a:xfrm>
          <a:prstGeom prst="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" y="4023359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 i="0">
                <a:solidFill>
                  <a:srgbClr val="26BEAD"/>
                </a:solidFill>
                <a:latin typeface="Aptos"/>
              </a:rPr>
              <a:t>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95927"/>
            <a:ext cx="1719072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Is available fleet translated into productive service?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837176"/>
            <a:ext cx="2743200" cy="731520"/>
          </a:xfrm>
          <a:prstGeom prst="roundRect">
            <a:avLst/>
          </a:prstGeom>
          <a:solidFill>
            <a:srgbClr val="19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4837176"/>
            <a:ext cx="50292" cy="731520"/>
          </a:xfrm>
          <a:prstGeom prst="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4956048"/>
            <a:ext cx="8229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 i="0">
                <a:solidFill>
                  <a:srgbClr val="F19949"/>
                </a:solidFill>
                <a:latin typeface="Aptos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928616"/>
            <a:ext cx="1719072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Can km, maintenance and labour productivity improve?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1389888"/>
            <a:ext cx="36576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 i="0">
                <a:solidFill>
                  <a:srgbClr val="26BEAD"/>
                </a:solidFill>
                <a:latin typeface="Aptos"/>
              </a:rPr>
              <a:t>WHAT THE PUBLIC EVIDENCE SAYS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1737360"/>
            <a:ext cx="2423160" cy="342900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023360" y="1956816"/>
            <a:ext cx="914400" cy="292608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59936" y="1997964"/>
            <a:ext cx="84124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468880"/>
            <a:ext cx="2057400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60" b="1" i="0">
                <a:solidFill>
                  <a:srgbClr val="F8FAFC"/>
                </a:solidFill>
                <a:latin typeface="Aptos"/>
              </a:rPr>
              <a:t>Passenger base fell from 44.37L/day to 33.10L/day pre-COVID despite population growth.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160520"/>
            <a:ext cx="10972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50" b="1" i="0">
                <a:solidFill>
                  <a:srgbClr val="A6B4C4"/>
                </a:solidFill>
                <a:latin typeface="Aptos"/>
              </a:rPr>
              <a:t>IMPLICATION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462272"/>
            <a:ext cx="20574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Reallocate frequency by time / corridor.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1737360"/>
            <a:ext cx="2423160" cy="342900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720840" y="1956816"/>
            <a:ext cx="914400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57416" y="1997964"/>
            <a:ext cx="84124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468880"/>
            <a:ext cx="2057400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60" b="1" i="0">
                <a:solidFill>
                  <a:srgbClr val="F8FAFC"/>
                </a:solidFill>
                <a:latin typeface="Aptos"/>
              </a:rPr>
              <a:t>CAG flagged non-scientific schedule planning, cancellations, over-aged buses and excess dead km.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160520"/>
            <a:ext cx="10972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50" b="1" i="0">
                <a:solidFill>
                  <a:srgbClr val="A6B4C4"/>
                </a:solidFill>
                <a:latin typeface="Aptos"/>
              </a:rPr>
              <a:t>IMPLICATION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462272"/>
            <a:ext cx="20574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Attack dead km, off-road time and cancellations.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1737360"/>
            <a:ext cx="2423160" cy="342900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418319" y="1956816"/>
            <a:ext cx="914400" cy="292608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54895" y="1997964"/>
            <a:ext cx="84124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ECONOMICS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19" y="2468880"/>
            <a:ext cx="2057400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60" b="1" i="0">
                <a:solidFill>
                  <a:srgbClr val="F8FAFC"/>
                </a:solidFill>
                <a:latin typeface="Aptos"/>
              </a:rPr>
              <a:t>Operating cost per km exceeded earning per km; cost ratio reached 222.62% in FY2021-22.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19" y="4160520"/>
            <a:ext cx="10972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50" b="1" i="0">
                <a:solidFill>
                  <a:srgbClr val="A6B4C4"/>
                </a:solidFill>
                <a:latin typeface="Aptos"/>
              </a:rPr>
              <a:t>IMPLICATION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4462272"/>
            <a:ext cx="20574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Improve bus-hour + revenue productivity.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0480" y="5413248"/>
            <a:ext cx="7818120" cy="621792"/>
          </a:xfrm>
          <a:prstGeom prst="roundRect">
            <a:avLst/>
          </a:prstGeom>
          <a:solidFill>
            <a:srgbClr val="1C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69080" y="5568696"/>
            <a:ext cx="1371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 i="0">
                <a:solidFill>
                  <a:srgbClr val="26BEAD"/>
                </a:solidFill>
                <a:latin typeface="Aptos"/>
              </a:rPr>
              <a:t>DIAGNOSTIC THESIS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5513832"/>
            <a:ext cx="59893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Prioritize network + depot productivity before assuming more fleet is the primary answer.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Source: CAG Performance Audit of BMTC, FY2017-18 to FY2021-22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"/>
              </a:rPr>
              <a:t>Capacity has recovered — the management question is whether productivity 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04672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 i="0">
                <a:solidFill>
                  <a:srgbClr val="A6B4C4"/>
                </a:solidFill>
                <a:latin typeface="Aptos"/>
              </a:rPr>
              <a:t>Fleet and schedules recovered after COVID, but fleet growth alone is not a performance strategy.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3716"/>
          </a:xfrm>
          <a:prstGeom prst="rect">
            <a:avLst/>
          </a:prstGeom>
          <a:solidFill>
            <a:srgbClr val="40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417320"/>
          <a:ext cx="73609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417320"/>
            <a:ext cx="3337560" cy="132588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417320"/>
            <a:ext cx="50292" cy="1325880"/>
          </a:xfrm>
          <a:prstGeom prst="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554480"/>
            <a:ext cx="3017520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30" b="1" i="0">
                <a:solidFill>
                  <a:srgbClr val="A6B4C4"/>
                </a:solidFill>
                <a:latin typeface="Aptos"/>
              </a:rPr>
              <a:t>FLEET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47088"/>
            <a:ext cx="30175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>
                <a:solidFill>
                  <a:srgbClr val="F8FAFC"/>
                </a:solidFill>
                <a:latin typeface="Aptos"/>
              </a:rPr>
              <a:t>6,562 → 7,007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59152"/>
            <a:ext cx="3017520" cy="30175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0" b="0" i="0">
                <a:solidFill>
                  <a:srgbClr val="D0DAE4"/>
                </a:solidFill>
                <a:latin typeface="Aptos"/>
              </a:rPr>
              <a:t>2018-19 to 2025-26*.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926080"/>
            <a:ext cx="3337560" cy="132588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2926080"/>
            <a:ext cx="50292" cy="1325880"/>
          </a:xfrm>
          <a:prstGeom prst="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3063240"/>
            <a:ext cx="3017520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30" b="1" i="0">
                <a:solidFill>
                  <a:srgbClr val="A6B4C4"/>
                </a:solidFill>
                <a:latin typeface="Aptos"/>
              </a:rPr>
              <a:t>SCHEDULES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55848"/>
            <a:ext cx="30175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>
                <a:solidFill>
                  <a:srgbClr val="F8FAFC"/>
                </a:solidFill>
                <a:latin typeface="Aptos"/>
              </a:rPr>
              <a:t>6,190 → 6,229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67912"/>
            <a:ext cx="3017520" cy="30175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0" b="0" i="0">
                <a:solidFill>
                  <a:srgbClr val="D0DAE4"/>
                </a:solidFill>
                <a:latin typeface="Aptos"/>
              </a:rPr>
              <a:t>Back near / above pre-COVID schedule 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434840"/>
            <a:ext cx="3337560" cy="132588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4434840"/>
            <a:ext cx="50292" cy="1325880"/>
          </a:xfrm>
          <a:prstGeom prst="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4572000"/>
            <a:ext cx="3017520" cy="2103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30" b="1" i="0">
                <a:solidFill>
                  <a:srgbClr val="A6B4C4"/>
                </a:solidFill>
                <a:latin typeface="Aptos"/>
              </a:rPr>
              <a:t>FLEET / 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864607"/>
            <a:ext cx="30175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>
                <a:solidFill>
                  <a:srgbClr val="F8FAFC"/>
                </a:solidFill>
                <a:latin typeface="Aptos"/>
              </a:rPr>
              <a:t>1.06 → 1.12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376672"/>
            <a:ext cx="3017520" cy="30175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60" b="0" i="0">
                <a:solidFill>
                  <a:srgbClr val="D0DAE4"/>
                </a:solidFill>
                <a:latin typeface="Aptos"/>
              </a:rPr>
              <a:t>More buses per schedule by 2025-26*: test utilization.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961888"/>
            <a:ext cx="29260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0" i="1">
                <a:solidFill>
                  <a:srgbClr val="A6B4C4"/>
                </a:solidFill>
                <a:latin typeface="Aptos"/>
              </a:rPr>
              <a:t>*2025-26 through Aug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Source: BMTC figures reported by Times of India (Sep 2025); calculations from published fleet / schedule 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"/>
              </a:rPr>
              <a:t>The unit economics are structurally difficult: cost per km &gt; earnings per km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877824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 i="0" dirty="0">
                <a:solidFill>
                  <a:srgbClr val="A6B4C4"/>
                </a:solidFill>
                <a:latin typeface="Aptos"/>
              </a:rPr>
              <a:t>The CAG audit shows a widening operating-cost gap, with personnel and fuel as dominant cost pools.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3716"/>
          </a:xfrm>
          <a:prstGeom prst="rect">
            <a:avLst/>
          </a:prstGeom>
          <a:solidFill>
            <a:srgbClr val="40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063240" cy="443484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3774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 i="0">
                <a:solidFill>
                  <a:srgbClr val="A6B4C4"/>
                </a:solidFill>
                <a:latin typeface="Aptos"/>
              </a:rPr>
              <a:t>OPERATING COST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22860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200" b="1" i="0">
                <a:solidFill>
                  <a:srgbClr val="26BEAD"/>
                </a:solidFill>
                <a:latin typeface="Aptos"/>
              </a:rPr>
              <a:t>133.6%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16352"/>
            <a:ext cx="16459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A6B4C4"/>
                </a:solidFill>
                <a:latin typeface="Aptos"/>
              </a:rPr>
              <a:t>FY2017-18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3273552"/>
            <a:ext cx="1417320" cy="0"/>
          </a:xfrm>
          <a:prstGeom prst="line">
            <a:avLst/>
          </a:prstGeom>
          <a:ln w="38100">
            <a:solidFill>
              <a:srgbClr val="F19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3657600"/>
            <a:ext cx="22860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200" b="1" i="0">
                <a:solidFill>
                  <a:srgbClr val="F19949"/>
                </a:solidFill>
                <a:latin typeface="Aptos"/>
              </a:rPr>
              <a:t>222.6%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16459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A6B4C4"/>
                </a:solidFill>
                <a:latin typeface="Aptos"/>
              </a:rPr>
              <a:t>FY2021-22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28032"/>
            <a:ext cx="233172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  <a:latin typeface="Aptos"/>
              </a:rPr>
              <a:t>Higher ratio = operating cost grew materially faster than operating earnings.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444752"/>
            <a:ext cx="29260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 i="0">
                <a:solidFill>
                  <a:srgbClr val="26BEAD"/>
                </a:solidFill>
                <a:latin typeface="Aptos"/>
              </a:rPr>
              <a:t>OPERATING EXPENDITURE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901952"/>
            <a:ext cx="8229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1" i="0">
                <a:solidFill>
                  <a:srgbClr val="F8FAFC"/>
                </a:solidFill>
                <a:latin typeface="Aptos"/>
              </a:rPr>
              <a:t>Personnel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1929384"/>
            <a:ext cx="5440680" cy="310896"/>
          </a:xfrm>
          <a:prstGeom prst="roundRect">
            <a:avLst/>
          </a:prstGeom>
          <a:solidFill>
            <a:srgbClr val="2C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892040" y="1929384"/>
            <a:ext cx="3264408" cy="310896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05872" y="1901952"/>
            <a:ext cx="777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50" b="1" i="0">
                <a:solidFill>
                  <a:srgbClr val="F8FAFC"/>
                </a:solidFill>
                <a:latin typeface="Aptos"/>
              </a:rPr>
              <a:t>~60%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633472"/>
            <a:ext cx="8229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1" i="0">
                <a:solidFill>
                  <a:srgbClr val="F8FAFC"/>
                </a:solidFill>
                <a:latin typeface="Aptos"/>
              </a:rPr>
              <a:t>Fuel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660903"/>
            <a:ext cx="5440680" cy="310896"/>
          </a:xfrm>
          <a:prstGeom prst="roundRect">
            <a:avLst/>
          </a:prstGeom>
          <a:solidFill>
            <a:srgbClr val="2C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892040" y="2660903"/>
            <a:ext cx="1468983" cy="310896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05872" y="2633472"/>
            <a:ext cx="777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50" b="1" i="0">
                <a:solidFill>
                  <a:srgbClr val="F8FAFC"/>
                </a:solidFill>
                <a:latin typeface="Aptos"/>
              </a:rPr>
              <a:t>~27%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364992"/>
            <a:ext cx="8229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1" i="0">
                <a:solidFill>
                  <a:srgbClr val="F8FAFC"/>
                </a:solidFill>
                <a:latin typeface="Aptos"/>
              </a:rPr>
              <a:t>Other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392424"/>
            <a:ext cx="5440680" cy="310896"/>
          </a:xfrm>
          <a:prstGeom prst="roundRect">
            <a:avLst/>
          </a:prstGeom>
          <a:solidFill>
            <a:srgbClr val="2C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892040" y="3392424"/>
            <a:ext cx="707288" cy="310896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05872" y="3364992"/>
            <a:ext cx="7772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950" b="1" i="0">
                <a:solidFill>
                  <a:srgbClr val="F8FAFC"/>
                </a:solidFill>
                <a:latin typeface="Aptos"/>
              </a:rPr>
              <a:t>~13%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39" y="4160520"/>
            <a:ext cx="7269480" cy="164592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40" y="4407408"/>
            <a:ext cx="21031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 i="0">
                <a:solidFill>
                  <a:srgbClr val="26BEAD"/>
                </a:solidFill>
                <a:latin typeface="Aptos"/>
              </a:rPr>
              <a:t>CONSULTING IMPLICATION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736592"/>
            <a:ext cx="635508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A fuel-only efficiency program cannot close the gap.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148072"/>
            <a:ext cx="6355080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>
                <a:solidFill>
                  <a:srgbClr val="D0DAE4"/>
                </a:solidFill>
                <a:latin typeface="Aptos"/>
              </a:rPr>
              <a:t>The bigger prize is bus-hour productivity: better schedules, fewer dead km, faster maintenance turns and stronger revenue productivity.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Source: CAG Performance Audit; cost mix and operating-cost-ratio findings refer to audited FY2017-18 to FY2021-22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"/>
              </a:rPr>
              <a:t>From symptoms to root causes: build an issue tree before choosing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0" y="818388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 i="0" dirty="0">
                <a:solidFill>
                  <a:srgbClr val="A6B4C4"/>
                </a:solidFill>
                <a:latin typeface="Aptos"/>
              </a:rPr>
              <a:t>CAG evidence reframed into four operational levers management can actually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3716"/>
          </a:xfrm>
          <a:prstGeom prst="rect">
            <a:avLst/>
          </a:prstGeom>
          <a:solidFill>
            <a:srgbClr val="40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0" y="1353312"/>
            <a:ext cx="3429000" cy="685800"/>
          </a:xfrm>
          <a:prstGeom prst="roundRect">
            <a:avLst/>
          </a:prstGeom>
          <a:solidFill>
            <a:srgbClr val="1F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53712" y="1536192"/>
            <a:ext cx="310896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 i="0">
                <a:solidFill>
                  <a:srgbClr val="F8FAFC"/>
                </a:solidFill>
                <a:latin typeface="Aptos"/>
              </a:rPr>
              <a:t>LOWER PRODUCTIVITY PER BUS-HOUR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965960" y="2048256"/>
            <a:ext cx="4133088" cy="585216"/>
          </a:xfrm>
          <a:prstGeom prst="line">
            <a:avLst/>
          </a:prstGeom>
          <a:ln w="22860">
            <a:solidFill>
              <a:srgbClr val="4AAD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761488"/>
            <a:ext cx="2286000" cy="237744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78992" y="2926080"/>
            <a:ext cx="438912" cy="292608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967228"/>
            <a:ext cx="365759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401568"/>
            <a:ext cx="19202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Demand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822191"/>
            <a:ext cx="192024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Non-scientific schedules; uniform trip durations; peak/off-peak mismatch.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800600"/>
            <a:ext cx="10058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20" b="1" i="0">
                <a:solidFill>
                  <a:srgbClr val="A6B4C4"/>
                </a:solidFill>
                <a:latin typeface="Aptos"/>
              </a:rPr>
              <a:t>TESTABLE LEVER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773168"/>
            <a:ext cx="11430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19" b="1" i="0">
                <a:solidFill>
                  <a:srgbClr val="4AADDB"/>
                </a:solidFill>
                <a:latin typeface="Aptos"/>
              </a:rPr>
              <a:t>Frequency / timetable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709160" y="2048256"/>
            <a:ext cx="1389888" cy="585216"/>
          </a:xfrm>
          <a:prstGeom prst="line">
            <a:avLst/>
          </a:prstGeom>
          <a:ln w="22860">
            <a:solidFill>
              <a:srgbClr val="26BE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57600" y="2761488"/>
            <a:ext cx="2286000" cy="237744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22191" y="2926080"/>
            <a:ext cx="438912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58768" y="2967228"/>
            <a:ext cx="365759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3401568"/>
            <a:ext cx="19202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Network / depot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1" y="3822191"/>
            <a:ext cx="192024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Excess dead km; 9/10 examined depots had avoidable dead-km cost.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4800600"/>
            <a:ext cx="10058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20" b="1" i="0">
                <a:solidFill>
                  <a:srgbClr val="A6B4C4"/>
                </a:solidFill>
                <a:latin typeface="Aptos"/>
              </a:rPr>
              <a:t>TESTABLE LEVER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773168"/>
            <a:ext cx="11430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19" b="1" i="0">
                <a:solidFill>
                  <a:srgbClr val="26BEAD"/>
                </a:solidFill>
                <a:latin typeface="Aptos"/>
              </a:rPr>
              <a:t>Depot + route design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9048" y="2048256"/>
            <a:ext cx="1353312" cy="585216"/>
          </a:xfrm>
          <a:prstGeom prst="line">
            <a:avLst/>
          </a:prstGeom>
          <a:ln w="22860">
            <a:solidFill>
              <a:srgbClr val="F19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2761488"/>
            <a:ext cx="2286000" cy="237744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65392" y="2926080"/>
            <a:ext cx="438912" cy="292608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968" y="2967228"/>
            <a:ext cx="365759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401568"/>
            <a:ext cx="19202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Fleet availability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822191"/>
            <a:ext cx="192024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Over-aged buses + maintenance delays + crew shortages.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800600"/>
            <a:ext cx="10058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20" b="1" i="0">
                <a:solidFill>
                  <a:srgbClr val="A6B4C4"/>
                </a:solidFill>
                <a:latin typeface="Aptos"/>
              </a:rPr>
              <a:t>TESTABLE LEVER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773168"/>
            <a:ext cx="11430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19" b="1" i="0">
                <a:solidFill>
                  <a:srgbClr val="F19949"/>
                </a:solidFill>
                <a:latin typeface="Aptos"/>
              </a:rPr>
              <a:t>Maintenance + staffing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9048" y="2048256"/>
            <a:ext cx="4096512" cy="585216"/>
          </a:xfrm>
          <a:prstGeom prst="line">
            <a:avLst/>
          </a:prstGeom>
          <a:ln w="22860">
            <a:solidFill>
              <a:srgbClr val="DE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144000" y="2761488"/>
            <a:ext cx="2286000" cy="237744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08592" y="2926080"/>
            <a:ext cx="438912" cy="292608"/>
          </a:xfrm>
          <a:prstGeom prst="round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45167" y="2967228"/>
            <a:ext cx="365759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3401568"/>
            <a:ext cx="19202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Revenue productivity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3822191"/>
            <a:ext cx="192024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Fare revision gap + lower load factors in premium services.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4800600"/>
            <a:ext cx="10058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20" b="1" i="0">
                <a:solidFill>
                  <a:srgbClr val="A6B4C4"/>
                </a:solidFill>
                <a:latin typeface="Aptos"/>
              </a:rPr>
              <a:t>TESTABLE LEVER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4773168"/>
            <a:ext cx="114300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19" b="1" i="0">
                <a:solidFill>
                  <a:srgbClr val="DE5B5B"/>
                </a:solidFill>
                <a:latin typeface="Aptos"/>
              </a:rPr>
              <a:t>Pricing + mix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Source: CAG Performance Audit; interpretation is a consulting hypothesis built from audited findings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 i="0" dirty="0">
                <a:solidFill>
                  <a:srgbClr val="F8FAFC"/>
                </a:solidFill>
                <a:latin typeface="Aptos"/>
              </a:rPr>
              <a:t>Prioritization: attack high-impact levers with manageable execution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3716"/>
          </a:xfrm>
          <a:prstGeom prst="rect">
            <a:avLst/>
          </a:prstGeom>
          <a:solidFill>
            <a:srgbClr val="40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9509760" cy="4297680"/>
          </a:xfrm>
          <a:prstGeom prst="round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0" y="1691640"/>
            <a:ext cx="4480560" cy="1828800"/>
          </a:xfrm>
          <a:prstGeom prst="roundRect">
            <a:avLst/>
          </a:prstGeom>
          <a:solidFill>
            <a:srgbClr val="1E3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43000" y="1691640"/>
            <a:ext cx="4251960" cy="1828800"/>
          </a:xfrm>
          <a:prstGeom prst="round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43000" y="3657600"/>
            <a:ext cx="4251960" cy="1874519"/>
          </a:xfrm>
          <a:prstGeom prst="roundRect">
            <a:avLst/>
          </a:prstGeom>
          <a:solidFill>
            <a:srgbClr val="1A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0" y="3657600"/>
            <a:ext cx="4480560" cy="1874519"/>
          </a:xfrm>
          <a:prstGeom prst="roundRect">
            <a:avLst/>
          </a:prstGeom>
          <a:solidFill>
            <a:srgbClr val="23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1874519"/>
            <a:ext cx="34747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 i="0">
                <a:solidFill>
                  <a:srgbClr val="26BEAD"/>
                </a:solidFill>
                <a:latin typeface="Aptos"/>
              </a:rPr>
              <a:t>HIGH IMPACT / LOWER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19"/>
            <a:ext cx="34747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 i="0">
                <a:solidFill>
                  <a:srgbClr val="F19949"/>
                </a:solidFill>
                <a:latin typeface="Aptos"/>
              </a:rPr>
              <a:t>HIGH IMPACT / HIGHER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34747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 i="0">
                <a:solidFill>
                  <a:srgbClr val="A6B4C4"/>
                </a:solidFill>
                <a:latin typeface="Aptos"/>
              </a:rPr>
              <a:t>LOWER IMPACT / LOWER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840480"/>
            <a:ext cx="34747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 i="0">
                <a:solidFill>
                  <a:srgbClr val="A6B4C4"/>
                </a:solidFill>
                <a:latin typeface="Aptos"/>
              </a:rPr>
              <a:t>LOWER IMPACT / HIGHER COMPLEXITY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331720"/>
            <a:ext cx="1508760" cy="685800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2423160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50" b="1" i="0">
                <a:solidFill>
                  <a:srgbClr val="0D192B"/>
                </a:solidFill>
                <a:latin typeface="Aptos"/>
              </a:rPr>
              <a:t>Demand-led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752344"/>
            <a:ext cx="1325880" cy="21031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00" b="0" i="0">
                <a:solidFill>
                  <a:srgbClr val="0D192B"/>
                </a:solidFill>
                <a:latin typeface="Aptos"/>
              </a:rPr>
              <a:t>scheduling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743200"/>
            <a:ext cx="1417320" cy="685800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834640"/>
            <a:ext cx="12344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50" b="1" i="0">
                <a:solidFill>
                  <a:srgbClr val="0D192B"/>
                </a:solidFill>
                <a:latin typeface="Aptos"/>
              </a:rPr>
              <a:t>Dead-km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63824"/>
            <a:ext cx="1234440" cy="21031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00" b="0" i="0">
                <a:solidFill>
                  <a:srgbClr val="0D192B"/>
                </a:solidFill>
                <a:latin typeface="Aptos"/>
              </a:rPr>
              <a:t>reduction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5179" y="4448556"/>
            <a:ext cx="1600201" cy="685800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IN" sz="1100" dirty="0">
                <a:solidFill>
                  <a:srgbClr val="0D192B"/>
                </a:solidFill>
                <a:latin typeface="Aptos"/>
              </a:rPr>
            </a:br>
            <a:br>
              <a:rPr lang="en-IN" sz="1100" dirty="0">
                <a:solidFill>
                  <a:srgbClr val="0D192B"/>
                </a:solidFill>
                <a:latin typeface="Aptos"/>
              </a:rPr>
            </a:br>
            <a:endParaRPr lang="en-IN" sz="1100" dirty="0">
              <a:solidFill>
                <a:srgbClr val="0D192B"/>
              </a:solidFill>
              <a:latin typeface="Aptos"/>
            </a:endParaRPr>
          </a:p>
          <a:p>
            <a:pPr algn="ctr"/>
            <a:r>
              <a:rPr lang="en-IN" sz="1100" dirty="0">
                <a:solidFill>
                  <a:srgbClr val="0D192B"/>
                </a:solidFill>
                <a:latin typeface="Aptos"/>
              </a:rPr>
              <a:t>turnaround</a:t>
            </a:r>
          </a:p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7223759" y="4544568"/>
            <a:ext cx="14630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50" b="1" i="0" dirty="0">
                <a:solidFill>
                  <a:srgbClr val="0D192B"/>
                </a:solidFill>
                <a:latin typeface="Aptos"/>
              </a:rPr>
              <a:t>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611880"/>
            <a:ext cx="1463040" cy="1600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endParaRPr sz="800" b="0" i="0" dirty="0">
              <a:solidFill>
                <a:srgbClr val="0D192B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828800" y="2468880"/>
            <a:ext cx="1645920" cy="685800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20240" y="2560320"/>
            <a:ext cx="14630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50" b="1" i="0">
                <a:solidFill>
                  <a:srgbClr val="0D192B"/>
                </a:solidFill>
                <a:latin typeface="Aptos"/>
              </a:rPr>
              <a:t>Route / depot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9504"/>
            <a:ext cx="1463040" cy="21031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00" b="0" i="0">
                <a:solidFill>
                  <a:srgbClr val="0D192B"/>
                </a:solidFill>
                <a:latin typeface="Aptos"/>
              </a:rPr>
              <a:t>redesign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2240280"/>
            <a:ext cx="1417320" cy="685800"/>
          </a:xfrm>
          <a:prstGeom prst="round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94759" y="2331720"/>
            <a:ext cx="12344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50" b="1" i="0">
                <a:solidFill>
                  <a:srgbClr val="0D192B"/>
                </a:solidFill>
                <a:latin typeface="Aptos"/>
              </a:rPr>
              <a:t>Fare / mix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59" y="2660904"/>
            <a:ext cx="1234440" cy="21031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00" b="0" i="0">
                <a:solidFill>
                  <a:srgbClr val="0D192B"/>
                </a:solidFill>
                <a:latin typeface="Aptos"/>
              </a:rPr>
              <a:t>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4343400"/>
            <a:ext cx="1554480" cy="640080"/>
          </a:xfrm>
          <a:prstGeom prst="roundRect">
            <a:avLst/>
          </a:prstGeom>
          <a:solidFill>
            <a:srgbClr val="D0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20240" y="4434840"/>
            <a:ext cx="13716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50" b="1" i="0">
                <a:solidFill>
                  <a:srgbClr val="0D192B"/>
                </a:solidFill>
                <a:latin typeface="Aptos"/>
              </a:rPr>
              <a:t>Reporting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764024"/>
            <a:ext cx="1371600" cy="16459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00" b="0" i="0">
                <a:solidFill>
                  <a:srgbClr val="0D192B"/>
                </a:solidFill>
                <a:latin typeface="Aptos"/>
              </a:rPr>
              <a:t>automation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4572000"/>
            <a:ext cx="1417320" cy="640080"/>
          </a:xfrm>
          <a:prstGeom prst="roundRect">
            <a:avLst/>
          </a:prstGeom>
          <a:solidFill>
            <a:srgbClr val="D0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49039" y="4663440"/>
            <a:ext cx="12344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50" b="1" i="0">
                <a:solidFill>
                  <a:srgbClr val="0D192B"/>
                </a:solidFill>
                <a:latin typeface="Aptos"/>
              </a:rPr>
              <a:t>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992624"/>
            <a:ext cx="1234440" cy="16459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00" b="0" i="0">
                <a:solidFill>
                  <a:srgbClr val="0D192B"/>
                </a:solidFill>
                <a:latin typeface="Aptos"/>
              </a:rPr>
              <a:t>refresh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5897880"/>
            <a:ext cx="27432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00" b="1" i="0">
                <a:solidFill>
                  <a:srgbClr val="A6B4C4"/>
                </a:solidFill>
                <a:latin typeface="Aptos"/>
              </a:rPr>
              <a:t>EXECUTION COMPLEXITY 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3063240"/>
            <a:ext cx="6400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00" b="1" i="0" dirty="0">
                <a:solidFill>
                  <a:srgbClr val="A6B4C4"/>
                </a:solidFill>
                <a:latin typeface="Aptos"/>
              </a:rPr>
              <a:t>IMPACT  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44200" y="1508760"/>
            <a:ext cx="868680" cy="429768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863072" y="1828800"/>
            <a:ext cx="6400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00" b="1" i="0">
                <a:solidFill>
                  <a:srgbClr val="26BEAD"/>
                </a:solidFill>
                <a:latin typeface="Aptos"/>
              </a:rPr>
              <a:t>PRIORITY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400" y="2400300"/>
            <a:ext cx="685800" cy="200433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300000"/>
              </a:lnSpc>
              <a:spcBef>
                <a:spcPts val="600"/>
              </a:spcBef>
              <a:spcAft>
                <a:spcPts val="3000"/>
              </a:spcAft>
            </a:pPr>
            <a:r>
              <a:rPr sz="800" b="1" i="0" dirty="0">
                <a:solidFill>
                  <a:srgbClr val="D0DAE4"/>
                </a:solidFill>
                <a:latin typeface="Aptos"/>
              </a:rPr>
              <a:t>Demand
Dead km
Maintenance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Prioritization is an analytical hypothesis, not a measured ROI ranking; route-level data is required to validate it.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"/>
              </a:rPr>
              <a:t>Recommendation: manage BMTC as a productivity system, not only a fleet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3400" y="786384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 i="0" dirty="0">
                <a:solidFill>
                  <a:srgbClr val="A6B4C4"/>
                </a:solidFill>
                <a:latin typeface="Aptos"/>
              </a:rPr>
              <a:t>Three integrated interventions connect demand, operations and economics.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3716"/>
          </a:xfrm>
          <a:prstGeom prst="rect">
            <a:avLst/>
          </a:prstGeom>
          <a:solidFill>
            <a:srgbClr val="40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3401568" cy="448056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81328"/>
            <a:ext cx="3401568" cy="73152"/>
          </a:xfrm>
          <a:prstGeom prst="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755648"/>
            <a:ext cx="502920" cy="292608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796795"/>
            <a:ext cx="42976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292608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Demand-led scheduling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44368"/>
            <a:ext cx="2907792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80" b="0" i="0">
                <a:solidFill>
                  <a:srgbClr val="D0DAE4"/>
                </a:solidFill>
                <a:latin typeface="Aptos"/>
              </a:rPr>
              <a:t>Rebuild frequency by corridor × time band using ticketing / AVL demand. Move bus-hours toward high-load windows.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80" b="1" i="0">
                <a:solidFill>
                  <a:srgbClr val="A6B4C4"/>
                </a:solidFill>
                <a:latin typeface="Aptos"/>
              </a:rPr>
              <a:t>OPERATING MEASURES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62272"/>
            <a:ext cx="100584" cy="100584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4389120"/>
            <a:ext cx="26517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Aptos"/>
              </a:rPr>
              <a:t>Peak / off-peak frequency bands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55464"/>
            <a:ext cx="100584" cy="100584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4782312"/>
            <a:ext cx="26517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Aptos"/>
              </a:rPr>
              <a:t>Load-factor trigger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48656"/>
            <a:ext cx="100584" cy="100584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5175504"/>
            <a:ext cx="26517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Aptos"/>
              </a:rPr>
              <a:t>Route-level timetable scorecard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481328"/>
            <a:ext cx="3401568" cy="448056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1481328"/>
            <a:ext cx="3401568" cy="73152"/>
          </a:xfrm>
          <a:prstGeom prst="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0" y="1755648"/>
            <a:ext cx="502920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08576" y="1796795"/>
            <a:ext cx="42976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240280"/>
            <a:ext cx="292608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Depot + network productivity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944368"/>
            <a:ext cx="2907792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80" b="0" i="0">
                <a:solidFill>
                  <a:srgbClr val="D0DAE4"/>
                </a:solidFill>
                <a:latin typeface="Aptos"/>
              </a:rPr>
              <a:t>Attack dead kilometres and weak depot-to-route allocation. Redesign pull-out / pull-in patterns where data supports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60520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80" b="1" i="0">
                <a:solidFill>
                  <a:srgbClr val="A6B4C4"/>
                </a:solidFill>
                <a:latin typeface="Aptos"/>
              </a:rPr>
              <a:t>OPERATING MEASURES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462272"/>
            <a:ext cx="100584" cy="100584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82312" y="4389120"/>
            <a:ext cx="26517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Aptos"/>
              </a:rPr>
              <a:t>Dead-km heatmap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855464"/>
            <a:ext cx="100584" cy="100584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82312" y="4782312"/>
            <a:ext cx="26517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Aptos"/>
              </a:rPr>
              <a:t>Depot dispatch efficiency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5248656"/>
            <a:ext cx="100584" cy="100584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82312" y="5175504"/>
            <a:ext cx="26517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Aptos"/>
              </a:rPr>
              <a:t>Bus-hour utilization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1481328"/>
            <a:ext cx="3401568" cy="448056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92440" y="1481328"/>
            <a:ext cx="3401568" cy="73152"/>
          </a:xfrm>
          <a:prstGeom prst="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321040" y="1755648"/>
            <a:ext cx="502920" cy="292608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57615" y="1796795"/>
            <a:ext cx="42976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240280"/>
            <a:ext cx="292608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Maintenance turnaround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944368"/>
            <a:ext cx="2907792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80" b="0" i="0">
                <a:solidFill>
                  <a:srgbClr val="D0DAE4"/>
                </a:solidFill>
                <a:latin typeface="Aptos"/>
              </a:rPr>
              <a:t>Create a daily available-fleet war room: classify off-road causes, prioritize quick-turn repairs and measure lost bus-hours.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160520"/>
            <a:ext cx="1828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80" b="1" i="0">
                <a:solidFill>
                  <a:srgbClr val="A6B4C4"/>
                </a:solidFill>
                <a:latin typeface="Aptos"/>
              </a:rPr>
              <a:t>OPERATING MEASURES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4462272"/>
            <a:ext cx="100584" cy="100584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31352" y="4389120"/>
            <a:ext cx="26517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Aptos"/>
              </a:rPr>
              <a:t>Off-road reason codes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4855464"/>
            <a:ext cx="100584" cy="100584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31352" y="4782312"/>
            <a:ext cx="26517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Aptos"/>
              </a:rPr>
              <a:t>Repair ageing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5248656"/>
            <a:ext cx="100584" cy="100584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31352" y="5175504"/>
            <a:ext cx="26517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F8FAFC"/>
                </a:solidFill>
                <a:latin typeface="Aptos"/>
              </a:rPr>
              <a:t>Cancelled-km recovery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Recommendation grounded in CAG findings; implementation design assumes route/depot operational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"/>
              </a:rPr>
              <a:t>90-day pilot: prove the economics before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5092" y="832104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 i="0" dirty="0">
                <a:solidFill>
                  <a:srgbClr val="A6B4C4"/>
                </a:solidFill>
                <a:latin typeface="Aptos"/>
              </a:rPr>
              <a:t>A test-and-learn loop, not a citywide transformation program.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3716"/>
          </a:xfrm>
          <a:prstGeom prst="rect">
            <a:avLst/>
          </a:prstGeom>
          <a:solidFill>
            <a:srgbClr val="40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337560" cy="297180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1247" y="1755648"/>
            <a:ext cx="658368" cy="292608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796795"/>
            <a:ext cx="58521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0–30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40280"/>
            <a:ext cx="2560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24912"/>
            <a:ext cx="274320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>
                <a:solidFill>
                  <a:srgbClr val="D0DAE4"/>
                </a:solidFill>
                <a:latin typeface="Aptos"/>
              </a:rPr>
              <a:t>Route × time × depot dataset
Define KPI baseline
Select 3–5 pilot corridors / depots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05072" y="2944368"/>
            <a:ext cx="320040" cy="0"/>
          </a:xfrm>
          <a:prstGeom prst="line">
            <a:avLst/>
          </a:prstGeom>
          <a:ln w="21590">
            <a:solidFill>
              <a:srgbClr val="A6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1508760"/>
            <a:ext cx="3337560" cy="297180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90288" y="1755648"/>
            <a:ext cx="658368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6864" y="1796795"/>
            <a:ext cx="58521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31–60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40280"/>
            <a:ext cx="2560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INTERVENE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724912"/>
            <a:ext cx="274320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>
                <a:solidFill>
                  <a:srgbClr val="D0DAE4"/>
                </a:solidFill>
                <a:latin typeface="Aptos"/>
              </a:rPr>
              <a:t>Reallocate selected bus-hours
Reduce dead km
Prioritize quick-turn repairs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54112" y="2944368"/>
            <a:ext cx="320040" cy="0"/>
          </a:xfrm>
          <a:prstGeom prst="line">
            <a:avLst/>
          </a:prstGeom>
          <a:ln w="21590">
            <a:solidFill>
              <a:srgbClr val="A6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59" y="1508760"/>
            <a:ext cx="3337560" cy="297180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39327" y="1755648"/>
            <a:ext cx="658368" cy="292608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75903" y="1796795"/>
            <a:ext cx="58521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61–90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2240280"/>
            <a:ext cx="25603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Aptos"/>
              </a:rPr>
              <a:t>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724912"/>
            <a:ext cx="2743200" cy="10058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>
                <a:solidFill>
                  <a:srgbClr val="D0DAE4"/>
                </a:solidFill>
                <a:latin typeface="Aptos"/>
              </a:rPr>
              <a:t>Compare pilot vs baseline
Validate service guardrails
Build scale-up business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54880"/>
            <a:ext cx="18288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 i="0">
                <a:solidFill>
                  <a:srgbClr val="26BEAD"/>
                </a:solidFill>
                <a:latin typeface="Aptos"/>
              </a:rPr>
              <a:t>PILOT SCORECARD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02352"/>
            <a:ext cx="1993392" cy="77724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285232"/>
            <a:ext cx="3200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 i="0">
                <a:solidFill>
                  <a:srgbClr val="26BEAD"/>
                </a:solidFill>
                <a:latin typeface="Aptos"/>
              </a:rPr>
              <a:t>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230368"/>
            <a:ext cx="1298448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69" b="1" i="0">
                <a:solidFill>
                  <a:srgbClr val="F8FAFC"/>
                </a:solidFill>
                <a:latin typeface="Aptos"/>
              </a:rPr>
              <a:t>Passengers / bus-hour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62072" y="5102352"/>
            <a:ext cx="1993392" cy="77724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99232" y="5285232"/>
            <a:ext cx="3200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 i="0">
                <a:solidFill>
                  <a:srgbClr val="26BEAD"/>
                </a:solidFill>
                <a:latin typeface="Aptos"/>
              </a:rP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5230368"/>
            <a:ext cx="1298448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69" b="1" i="0">
                <a:solidFill>
                  <a:srgbClr val="F8FAFC"/>
                </a:solidFill>
                <a:latin typeface="Aptos"/>
              </a:rPr>
              <a:t>Revenue / bus-km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5102352"/>
            <a:ext cx="1993392" cy="77724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1224" y="5285232"/>
            <a:ext cx="3200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 i="0">
                <a:solidFill>
                  <a:srgbClr val="F19949"/>
                </a:solidFill>
                <a:latin typeface="Aptos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6984" y="5230368"/>
            <a:ext cx="1298448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69" b="1" i="0">
                <a:solidFill>
                  <a:srgbClr val="F8FAFC"/>
                </a:solidFill>
                <a:latin typeface="Aptos"/>
              </a:rPr>
              <a:t>Dead km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6056" y="5102352"/>
            <a:ext cx="1993392" cy="77724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43216" y="5285232"/>
            <a:ext cx="3200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 i="0">
                <a:solidFill>
                  <a:srgbClr val="F19949"/>
                </a:solidFill>
                <a:latin typeface="Aptos"/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08976" y="5230368"/>
            <a:ext cx="1298448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69" b="1" i="0">
                <a:solidFill>
                  <a:srgbClr val="F8FAFC"/>
                </a:solidFill>
                <a:latin typeface="Aptos"/>
              </a:rPr>
              <a:t>Cancelled km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8048" y="5102352"/>
            <a:ext cx="1993392" cy="77724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65208" y="5285232"/>
            <a:ext cx="3200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 i="0">
                <a:solidFill>
                  <a:srgbClr val="F19949"/>
                </a:solidFill>
                <a:latin typeface="Aptos"/>
              </a:rPr>
              <a:t>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0968" y="5230368"/>
            <a:ext cx="1298448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69" b="1" i="0">
                <a:solidFill>
                  <a:srgbClr val="F8FAFC"/>
                </a:solidFill>
                <a:latin typeface="Aptos"/>
              </a:rPr>
              <a:t>Off-road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12680" y="5961888"/>
            <a:ext cx="1554480" cy="292608"/>
          </a:xfrm>
          <a:prstGeom prst="roundRect">
            <a:avLst/>
          </a:prstGeom>
          <a:solidFill>
            <a:srgbClr val="1E3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04120" y="6007608"/>
            <a:ext cx="1371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740" b="1" i="0">
                <a:solidFill>
                  <a:srgbClr val="26BEAD"/>
                </a:solidFill>
                <a:latin typeface="Aptos"/>
              </a:rPr>
              <a:t>GO / NO-GO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Pilot metrics are proposed management KPIs; no pilot outcome is claimed.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"/>
              </a:rPr>
              <a:t>Management dashboard: one page to run the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04672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 i="0">
                <a:solidFill>
                  <a:srgbClr val="A6B4C4"/>
                </a:solidFill>
                <a:latin typeface="Aptos"/>
              </a:rPr>
              <a:t>Connect operational activity to financial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3716"/>
          </a:xfrm>
          <a:prstGeom prst="rect">
            <a:avLst/>
          </a:prstGeom>
          <a:solidFill>
            <a:srgbClr val="40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383280" cy="1481328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80" b="1" i="0">
                <a:solidFill>
                  <a:srgbClr val="4AADDB"/>
                </a:solidFill>
                <a:latin typeface="Aptos"/>
              </a:rP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283464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Passengers / bus-hour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95728"/>
            <a:ext cx="27432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D0DAE4"/>
                </a:solidFill>
                <a:latin typeface="Aptos"/>
              </a:rPr>
              <a:t>Leading indicator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2395728"/>
            <a:ext cx="91440" cy="228600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17520" y="2340864"/>
            <a:ext cx="91440" cy="301752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82112" y="2286000"/>
            <a:ext cx="91440" cy="374904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46704" y="2395728"/>
            <a:ext cx="91440" cy="228600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11296" y="2340864"/>
            <a:ext cx="91440" cy="301752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89120" y="1463040"/>
            <a:ext cx="3383280" cy="1481328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1627632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80" b="1" i="0">
                <a:solidFill>
                  <a:srgbClr val="26BEAD"/>
                </a:solidFill>
                <a:latin typeface="Aptos"/>
              </a:rP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1938528"/>
            <a:ext cx="283464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Cancelled km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395728"/>
            <a:ext cx="27432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D0DAE4"/>
                </a:solidFill>
                <a:latin typeface="Aptos"/>
              </a:rPr>
              <a:t>Reliability guardrail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01968" y="2395728"/>
            <a:ext cx="91440" cy="228600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66559" y="2340864"/>
            <a:ext cx="91440" cy="301752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931152" y="2286000"/>
            <a:ext cx="91440" cy="374904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95744" y="2395728"/>
            <a:ext cx="91440" cy="228600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260336" y="2340864"/>
            <a:ext cx="91440" cy="301752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38159" y="1463040"/>
            <a:ext cx="3383280" cy="1481328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7" y="1627632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80" b="1" i="0">
                <a:solidFill>
                  <a:srgbClr val="F19949"/>
                </a:solidFill>
                <a:latin typeface="Aptos"/>
              </a:rPr>
              <a:t>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1938528"/>
            <a:ext cx="283464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Dead km / total 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395728"/>
            <a:ext cx="27432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D0DAE4"/>
                </a:solidFill>
                <a:latin typeface="Aptos"/>
              </a:rPr>
              <a:t>Waste indicator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51007" y="2395728"/>
            <a:ext cx="91440" cy="228600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15599" y="2340864"/>
            <a:ext cx="91440" cy="301752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680191" y="2286000"/>
            <a:ext cx="91440" cy="374904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844784" y="2395728"/>
            <a:ext cx="91440" cy="228600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1009376" y="2340864"/>
            <a:ext cx="91440" cy="301752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0080" y="3291840"/>
            <a:ext cx="3383280" cy="1481328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7" y="3456432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80" b="1" i="0">
                <a:solidFill>
                  <a:srgbClr val="57B97C"/>
                </a:solidFill>
                <a:latin typeface="Aptos"/>
              </a:rPr>
              <a:t>FLEET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3767328"/>
            <a:ext cx="283464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Available fleet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4224528"/>
            <a:ext cx="27432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D0DAE4"/>
                </a:solidFill>
                <a:latin typeface="Aptos"/>
              </a:rPr>
              <a:t>Capacity conversion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52928" y="4224528"/>
            <a:ext cx="91440" cy="228600"/>
          </a:xfrm>
          <a:prstGeom prst="roundRect">
            <a:avLst/>
          </a:prstGeom>
          <a:solidFill>
            <a:srgbClr val="57B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017520" y="4169664"/>
            <a:ext cx="91440" cy="301752"/>
          </a:xfrm>
          <a:prstGeom prst="roundRect">
            <a:avLst/>
          </a:prstGeom>
          <a:solidFill>
            <a:srgbClr val="57B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182112" y="4114800"/>
            <a:ext cx="91440" cy="374904"/>
          </a:xfrm>
          <a:prstGeom prst="roundRect">
            <a:avLst/>
          </a:prstGeom>
          <a:solidFill>
            <a:srgbClr val="57B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346704" y="4224528"/>
            <a:ext cx="91440" cy="228600"/>
          </a:xfrm>
          <a:prstGeom prst="roundRect">
            <a:avLst/>
          </a:prstGeom>
          <a:solidFill>
            <a:srgbClr val="57B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511296" y="4169664"/>
            <a:ext cx="91440" cy="301752"/>
          </a:xfrm>
          <a:prstGeom prst="roundRect">
            <a:avLst/>
          </a:prstGeom>
          <a:solidFill>
            <a:srgbClr val="57B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389120" y="3291840"/>
            <a:ext cx="3383280" cy="1481328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90288" y="3456432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80" b="1" i="0">
                <a:solidFill>
                  <a:srgbClr val="DE5B5B"/>
                </a:solidFill>
                <a:latin typeface="Aptos"/>
              </a:rPr>
              <a:t>ECONOMICS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0288" y="3767328"/>
            <a:ext cx="283464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Revenue / bus-km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0288" y="4224528"/>
            <a:ext cx="27432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D0DAE4"/>
                </a:solidFill>
                <a:latin typeface="Aptos"/>
              </a:rPr>
              <a:t>Value capture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01968" y="4224528"/>
            <a:ext cx="91440" cy="228600"/>
          </a:xfrm>
          <a:prstGeom prst="round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766559" y="4169664"/>
            <a:ext cx="91440" cy="301752"/>
          </a:xfrm>
          <a:prstGeom prst="round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931152" y="4114800"/>
            <a:ext cx="91440" cy="374904"/>
          </a:xfrm>
          <a:prstGeom prst="round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095744" y="4224528"/>
            <a:ext cx="91440" cy="228600"/>
          </a:xfrm>
          <a:prstGeom prst="round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260336" y="4169664"/>
            <a:ext cx="91440" cy="301752"/>
          </a:xfrm>
          <a:prstGeom prst="roundRect">
            <a:avLst/>
          </a:prstGeom>
          <a:solidFill>
            <a:srgbClr val="DE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138159" y="3291840"/>
            <a:ext cx="3383280" cy="1481328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39327" y="3456432"/>
            <a:ext cx="914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80" b="1" i="0">
                <a:solidFill>
                  <a:srgbClr val="4AADDB"/>
                </a:solidFill>
                <a:latin typeface="Aptos"/>
              </a:rPr>
              <a:t>MAINTENANCE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7" y="3767328"/>
            <a:ext cx="2834640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Aptos"/>
              </a:rPr>
              <a:t>Median repair hours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4224528"/>
            <a:ext cx="27432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0" i="0">
                <a:solidFill>
                  <a:srgbClr val="D0DAE4"/>
                </a:solidFill>
                <a:latin typeface="Aptos"/>
              </a:rPr>
              <a:t>Turnaround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51007" y="4224528"/>
            <a:ext cx="91440" cy="228600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0515599" y="4169664"/>
            <a:ext cx="91440" cy="301752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680191" y="4114800"/>
            <a:ext cx="91440" cy="374904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0844784" y="4224528"/>
            <a:ext cx="91440" cy="228600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1009376" y="4169664"/>
            <a:ext cx="91440" cy="301752"/>
          </a:xfrm>
          <a:prstGeom prst="round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40080" y="5230368"/>
            <a:ext cx="10972800" cy="658368"/>
          </a:xfrm>
          <a:prstGeom prst="roundRect">
            <a:avLst/>
          </a:prstGeom>
          <a:solidFill>
            <a:srgbClr val="1E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" y="5413248"/>
            <a:ext cx="10972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 i="0">
                <a:solidFill>
                  <a:srgbClr val="26BEAD"/>
                </a:solidFill>
                <a:latin typeface="Aptos"/>
              </a:rPr>
              <a:t>DECISION RULE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5340096"/>
            <a:ext cx="9098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Scale only when productivity improves without breaching passenger-service guardrails.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Dashboard is proposed for the pilot; it is designed around measurable operational levers.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"/>
              </a:rPr>
              <a:t>What the analysis cannot yet prove — and exactly what data would close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11980" y="822960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 i="0">
                <a:solidFill>
                  <a:srgbClr val="A6B4C4"/>
                </a:solidFill>
                <a:latin typeface="Aptos"/>
              </a:rPr>
              <a:t>Advanced consulting work is explicit about evidence boundaries.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3716"/>
          </a:xfrm>
          <a:prstGeom prst="rect">
            <a:avLst/>
          </a:prstGeom>
          <a:solidFill>
            <a:srgbClr val="40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257800" cy="452628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00784"/>
            <a:ext cx="13716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 i="0">
                <a:solidFill>
                  <a:srgbClr val="F19949"/>
                </a:solidFill>
                <a:latin typeface="Aptos"/>
              </a:rPr>
              <a:t>LIMITATIONS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48840"/>
            <a:ext cx="411480" cy="292608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2189988"/>
            <a:ext cx="33832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39696"/>
            <a:ext cx="20116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  <a:latin typeface="Aptos"/>
              </a:rPr>
              <a:t>No route-level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30552"/>
            <a:ext cx="26974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D0DAE4"/>
                </a:solidFill>
                <a:latin typeface="Aptos"/>
              </a:rPr>
              <a:t>Cannot identify exact under/over-performing corridors.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999232"/>
            <a:ext cx="411480" cy="292608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" y="3040380"/>
            <a:ext cx="33832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2990088"/>
            <a:ext cx="20116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  <a:latin typeface="Aptos"/>
              </a:rPr>
              <a:t>Historical audit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980944"/>
            <a:ext cx="26974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D0DAE4"/>
                </a:solidFill>
                <a:latin typeface="Aptos"/>
              </a:rPr>
              <a:t>CAG evidence primarily covers FY2017-18 to FY2021-22.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49624"/>
            <a:ext cx="411480" cy="292608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" y="3890772"/>
            <a:ext cx="33832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840480"/>
            <a:ext cx="20116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  <a:latin typeface="Aptos"/>
              </a:rPr>
              <a:t>Limited causal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31336"/>
            <a:ext cx="26974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D0DAE4"/>
                </a:solidFill>
                <a:latin typeface="Aptos"/>
              </a:rPr>
              <a:t>Observed relationships do not prove that one factor caused another.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00016"/>
            <a:ext cx="411480" cy="292608"/>
          </a:xfrm>
          <a:prstGeom prst="round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4741164"/>
            <a:ext cx="33832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4690872"/>
            <a:ext cx="20116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  <a:latin typeface="Aptos"/>
              </a:rPr>
              <a:t>No passenger-experience lens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81728"/>
            <a:ext cx="26974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D0DAE4"/>
                </a:solidFill>
                <a:latin typeface="Aptos"/>
              </a:rPr>
              <a:t>Waiting time, crowding, reliability and satisfaction are not captured.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1417320"/>
            <a:ext cx="5532120" cy="4526280"/>
          </a:xfrm>
          <a:prstGeom prst="roundRect">
            <a:avLst/>
          </a:prstGeom>
          <a:solidFill>
            <a:srgbClr val="182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700784"/>
            <a:ext cx="155448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00" b="1" i="0">
                <a:solidFill>
                  <a:srgbClr val="26BEAD"/>
                </a:solidFill>
                <a:latin typeface="Aptos"/>
              </a:rPr>
              <a:t>DATA ROADMAP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103120"/>
            <a:ext cx="384048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91656" y="2144268"/>
            <a:ext cx="31089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093976"/>
            <a:ext cx="14630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  <a:latin typeface="Aptos"/>
              </a:rPr>
              <a:t>Route ×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093976"/>
            <a:ext cx="28803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D0DAE4"/>
                </a:solidFill>
                <a:latin typeface="Aptos"/>
              </a:rPr>
              <a:t>Trips, passengers, load factor, cancellations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2889503"/>
            <a:ext cx="384048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91656" y="2930651"/>
            <a:ext cx="31089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880360"/>
            <a:ext cx="14630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  <a:latin typeface="Aptos"/>
              </a:rPr>
              <a:t>Depot ×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880360"/>
            <a:ext cx="28803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D0DAE4"/>
                </a:solidFill>
                <a:latin typeface="Aptos"/>
              </a:rPr>
              <a:t>Pull-out / pull-in, dead km, dispatch efficiency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675887"/>
            <a:ext cx="384048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91656" y="3717035"/>
            <a:ext cx="31089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666744"/>
            <a:ext cx="14630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  <a:latin typeface="Aptos"/>
              </a:rPr>
              <a:t>Fleet × reason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666744"/>
            <a:ext cx="28803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D0DAE4"/>
                </a:solidFill>
                <a:latin typeface="Aptos"/>
              </a:rPr>
              <a:t>Off-road time, repair category, spare ratio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462272"/>
            <a:ext cx="384048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91656" y="4503420"/>
            <a:ext cx="310896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453128"/>
            <a:ext cx="14630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 i="0">
                <a:solidFill>
                  <a:srgbClr val="F8FAFC"/>
                </a:solidFill>
                <a:latin typeface="Aptos"/>
              </a:rPr>
              <a:t>Revenue ×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453128"/>
            <a:ext cx="288036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80" b="0" i="0">
                <a:solidFill>
                  <a:srgbClr val="D0DAE4"/>
                </a:solidFill>
                <a:latin typeface="Aptos"/>
              </a:rPr>
              <a:t>Revenue/km, fare class, concession / subsidy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5349240"/>
            <a:ext cx="4800600" cy="384048"/>
          </a:xfrm>
          <a:prstGeom prst="roundRect">
            <a:avLst/>
          </a:prstGeom>
          <a:solidFill>
            <a:srgbClr val="1E3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10528" y="5440680"/>
            <a:ext cx="44805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19" b="1" i="0">
                <a:solidFill>
                  <a:srgbClr val="F8FAFC"/>
                </a:solidFill>
                <a:latin typeface="Aptos"/>
              </a:rPr>
              <a:t>NEXT STEP → identify productivity outliers → quantify ROI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Analytical discipline: recommendations are hypotheses until route/depot data validates impact.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"/>
              </a:rPr>
              <a:t>The consulting answer, in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9936" y="813816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 i="0" dirty="0">
                <a:solidFill>
                  <a:srgbClr val="A6B4C4"/>
                </a:solidFill>
                <a:latin typeface="Aptos"/>
              </a:rPr>
              <a:t>A decision-ready synthesis for an interview discussion.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3716"/>
          </a:xfrm>
          <a:prstGeom prst="rect">
            <a:avLst/>
          </a:prstGeom>
          <a:solidFill>
            <a:srgbClr val="40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0972800" cy="1078992"/>
          </a:xfrm>
          <a:prstGeom prst="roundRect">
            <a:avLst/>
          </a:prstGeom>
          <a:solidFill>
            <a:srgbClr val="1E3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1042416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900" b="1" i="0">
                <a:solidFill>
                  <a:srgbClr val="F8FAFC"/>
                </a:solidFill>
                <a:latin typeface="Aptos"/>
              </a:rPr>
              <a:t>Do not frame BMTC’s challenge as “more buses vs. fewer buses.”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332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50" b="1" i="0">
                <a:solidFill>
                  <a:srgbClr val="26BEAD"/>
                </a:solidFill>
                <a:latin typeface="Aptos"/>
              </a:rPr>
              <a:t>Frame it as: where can each bus-hour create more passenger value at acceptable cost?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80360"/>
            <a:ext cx="3401568" cy="251460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880360"/>
            <a:ext cx="3401568" cy="64008"/>
          </a:xfrm>
          <a:prstGeom prst="rect">
            <a:avLst/>
          </a:prstGeom>
          <a:solidFill>
            <a:srgbClr val="4AAD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4AADDB"/>
                </a:solidFill>
                <a:latin typeface="Aptos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30752"/>
            <a:ext cx="288036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Measure productivity at route × time × depot level.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28346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Build a fact base before reallocating capacity.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880360"/>
            <a:ext cx="3401568" cy="251460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2880360"/>
            <a:ext cx="3401568" cy="64008"/>
          </a:xfrm>
          <a:prstGeom prst="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218688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26BEAD"/>
                </a:solidFill>
                <a:latin typeface="Aptos"/>
              </a:rP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730752"/>
            <a:ext cx="288036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Test demand-led scheduling + dead-km + maintenance levers.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28346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Run a 90-day controlled pilot with service guardrails.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880360"/>
            <a:ext cx="3401568" cy="2514600"/>
          </a:xfrm>
          <a:prstGeom prst="roundRect">
            <a:avLst/>
          </a:prstGeom>
          <a:solidFill>
            <a:srgbClr val="14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2880360"/>
            <a:ext cx="3401568" cy="64008"/>
          </a:xfrm>
          <a:prstGeom prst="rect">
            <a:avLst/>
          </a:prstGeom>
          <a:solidFill>
            <a:srgbClr val="F19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218688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F19949"/>
                </a:solidFill>
                <a:latin typeface="Aptos"/>
              </a:rP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30752"/>
            <a:ext cx="288036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 i="0">
                <a:solidFill>
                  <a:srgbClr val="F8FAFC"/>
                </a:solidFill>
                <a:latin typeface="Aptos"/>
              </a:rPr>
              <a:t>Fund what improves productivity without hurting service.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572000"/>
            <a:ext cx="28346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19" b="0" i="0">
                <a:solidFill>
                  <a:srgbClr val="D0DAE4"/>
                </a:solidFill>
                <a:latin typeface="Aptos"/>
              </a:rPr>
              <a:t>Convert validated gains into a citywide playbook.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650992"/>
            <a:ext cx="10972800" cy="457200"/>
          </a:xfrm>
          <a:prstGeom prst="roundRect">
            <a:avLst/>
          </a:prstGeom>
          <a:solidFill>
            <a:srgbClr val="23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769864"/>
            <a:ext cx="14173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80" b="1" i="0">
                <a:solidFill>
                  <a:srgbClr val="26BEAD"/>
                </a:solidFill>
                <a:latin typeface="Aptos"/>
              </a:rPr>
              <a:t>WHY THIS STANDS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705856"/>
            <a:ext cx="87782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1" i="0">
                <a:solidFill>
                  <a:srgbClr val="F8FAFC"/>
                </a:solidFill>
                <a:latin typeface="Aptos"/>
              </a:rPr>
              <a:t>It turns public data into a testable management agenda — with explicit evidence limits, operating KPIs and a scale gate.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Prepared as an independent consulting-style diagnostic using publicly available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7472"/>
            <a:ext cx="41148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1" i="0">
                <a:solidFill>
                  <a:srgbClr val="26BEAD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106070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500" b="1" i="0">
                <a:solidFill>
                  <a:srgbClr val="F8FAFC"/>
                </a:solidFill>
                <a:latin typeface="Aptos"/>
              </a:rPr>
              <a:t>Sources &amp; data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0864" y="832104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19" b="0" i="0" dirty="0">
                <a:solidFill>
                  <a:srgbClr val="A6B4C4"/>
                </a:solidFill>
                <a:latin typeface="Aptos"/>
              </a:rPr>
              <a:t>All quantitative claims are traceable to public sources; audited findings are separated from recent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201400" cy="13716"/>
          </a:xfrm>
          <a:prstGeom prst="rect">
            <a:avLst/>
          </a:prstGeom>
          <a:solidFill>
            <a:srgbClr val="405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411480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1458468"/>
            <a:ext cx="33832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99032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Aptos"/>
              </a:rPr>
              <a:t>CAG — Performance Audit on Functioning of Bengaluru Metropolitan Transport Corporation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64792"/>
            <a:ext cx="99669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90" b="0" i="0">
                <a:solidFill>
                  <a:srgbClr val="D0DAE4"/>
                </a:solidFill>
                <a:latin typeface="Aptos"/>
              </a:rPr>
              <a:t>Report tabled 12 Dec 2024; audit period FY2017-18 to FY2021-22. Passenger, cost, fleet-age, dead-km and scheduling findings.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411480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2555748"/>
            <a:ext cx="33832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Aptos"/>
              </a:rPr>
              <a:t>Karnataka Open Government Data — Year Wise Performance of BMTC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62072"/>
            <a:ext cx="99669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90" b="0" i="0">
                <a:solidFill>
                  <a:srgbClr val="D0DAE4"/>
                </a:solidFill>
                <a:latin typeface="Aptos"/>
              </a:rPr>
              <a:t>Official Karnataka Transport Department / BMTC dataset covering physical and financial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411480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3653028"/>
            <a:ext cx="33832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93592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Aptos"/>
              </a:rPr>
              <a:t>Karnataka Economic Survey 2024-25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59352"/>
            <a:ext cx="99669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90" b="0" i="0">
                <a:solidFill>
                  <a:srgbClr val="D0DAE4"/>
                </a:solidFill>
                <a:latin typeface="Aptos"/>
              </a:rPr>
              <a:t>Dec 2024 fleet utilization, km, revenue, expenditure and loss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09159"/>
            <a:ext cx="411480" cy="292608"/>
          </a:xfrm>
          <a:prstGeom prst="roundRect">
            <a:avLst/>
          </a:prstGeom>
          <a:solidFill>
            <a:srgbClr val="26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" y="4750307"/>
            <a:ext cx="338328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30" b="1" i="0">
                <a:solidFill>
                  <a:srgbClr val="0D192B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90872"/>
            <a:ext cx="996696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1" i="0">
                <a:solidFill>
                  <a:srgbClr val="F8FAFC"/>
                </a:solidFill>
                <a:latin typeface="Aptos"/>
              </a:rPr>
              <a:t>Times of India — BMTC fleet / schedule / operating scale report, Sep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056631"/>
            <a:ext cx="9966960" cy="4389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90" b="0" i="0">
                <a:solidFill>
                  <a:srgbClr val="D0DAE4"/>
                </a:solidFill>
                <a:latin typeface="Aptos"/>
              </a:rPr>
              <a:t>Recent fleet, schedule, trip, km and ridership context; 2025-26 figures marked through Aug 2025.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806440"/>
            <a:ext cx="10835640" cy="411480"/>
          </a:xfrm>
          <a:prstGeom prst="roundRect">
            <a:avLst/>
          </a:prstGeom>
          <a:solidFill>
            <a:srgbClr val="1E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916168"/>
            <a:ext cx="103784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860" b="1" i="0">
                <a:solidFill>
                  <a:srgbClr val="F8FAFC"/>
                </a:solidFill>
                <a:latin typeface="Aptos"/>
              </a:rPr>
              <a:t>IMPORTANT: CAG findings are historical; recent BMTC scale / ridership does not imply audited inefficiencies are unchanged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686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730" b="0" i="0">
                <a:solidFill>
                  <a:srgbClr val="A6B4C4"/>
                </a:solidFill>
                <a:latin typeface="Aptos"/>
              </a:rPr>
              <a:t>Primary evidence: CAG + Karnataka OGD + Karnataka Economic Survey; current context: Times of India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6473952"/>
            <a:ext cx="2971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730" b="1" i="0">
                <a:solidFill>
                  <a:srgbClr val="A6B4C4"/>
                </a:solidFill>
                <a:latin typeface="Aptos"/>
              </a:rPr>
              <a:t>BMTC PERFORMANCE DIAGNOSTIC  |  CONSULTING MINI-CASE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1561</Words>
  <Application>Microsoft Office PowerPoint</Application>
  <PresentationFormat>Widescreen</PresentationFormat>
  <Paragraphs>280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BMTC Performance Diagnostic — Advanced PGDM Consulting Mini-Case</dc:title>
  <dc:subject>Data-led consulting diagnostic for BMTC operational productivity and financial sustainability</dc:subject>
  <dc:creator/>
  <cp:keywords/>
  <dc:description>generated using python-pptx</dc:description>
  <cp:lastModifiedBy>Yashi Gupta</cp:lastModifiedBy>
  <cp:revision>3</cp:revision>
  <dcterms:created xsi:type="dcterms:W3CDTF">2013-01-27T09:14:16Z</dcterms:created>
  <dcterms:modified xsi:type="dcterms:W3CDTF">2026-09-13T14:56:21Z</dcterms:modified>
  <cp:category/>
</cp:coreProperties>
</file>